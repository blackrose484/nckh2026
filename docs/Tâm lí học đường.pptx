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302" r:id="rId2"/>
    <p:sldId id="301" r:id="rId3"/>
    <p:sldId id="304" r:id="rId4"/>
    <p:sldId id="320" r:id="rId5"/>
    <p:sldId id="305" r:id="rId6"/>
    <p:sldId id="321" r:id="rId7"/>
    <p:sldId id="322" r:id="rId8"/>
    <p:sldId id="306" r:id="rId9"/>
    <p:sldId id="324" r:id="rId10"/>
    <p:sldId id="323" r:id="rId11"/>
    <p:sldId id="257" r:id="rId12"/>
    <p:sldId id="310" r:id="rId13"/>
    <p:sldId id="314" r:id="rId14"/>
    <p:sldId id="311" r:id="rId15"/>
    <p:sldId id="312" r:id="rId16"/>
    <p:sldId id="294" r:id="rId17"/>
    <p:sldId id="296" r:id="rId18"/>
    <p:sldId id="30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g3cbQTUQ5NS13SOc2zrHn/DENM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FBE0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8" autoAdjust="0"/>
    <p:restoredTop sz="77297" autoAdjust="0"/>
  </p:normalViewPr>
  <p:slideViewPr>
    <p:cSldViewPr snapToGrid="0">
      <p:cViewPr varScale="1">
        <p:scale>
          <a:sx n="100" d="100"/>
          <a:sy n="100" d="100"/>
        </p:scale>
        <p:origin x="157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8792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1504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9A2F8D4-3F9D-D503-2732-BC3E9DB6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FB37AC1-256F-1F8A-9906-4C8EE1D90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B825513-BBBD-5900-76B0-F555D12AE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6154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04BD84CF-FD53-54A3-00FA-A1A99055B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608BC53-A6CD-428B-B52B-38A46692B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CFAD19B-6CF6-3DD1-902D-C85471A930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7354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9A2F8D4-3F9D-D503-2732-BC3E9DB6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FB37AC1-256F-1F8A-9906-4C8EE1D90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B825513-BBBD-5900-76B0-F555D12AE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63445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E34406E-73F4-4BA7-C2AB-FB135AD6D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4520E62-D020-8902-7D10-EAA11A9583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C16A381-FE8D-B129-7A75-5578480C0F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3178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CB6F3FE-12C1-5D38-555A-8E4BF1389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55F37C9-F3D0-77D6-67F6-0F36CEE25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75C4A6B-217A-C316-16BB-E6E8005F42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79528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9A2F8D4-3F9D-D503-2732-BC3E9DB6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FB37AC1-256F-1F8A-9906-4C8EE1D90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Per-Vertex Coloring:</a:t>
            </a:r>
            <a:r>
              <a:rPr lang="en-US" dirty="0"/>
              <a:t> Color is stored on the mesh points.</a:t>
            </a:r>
          </a:p>
          <a:p>
            <a:r>
              <a:rPr lang="en-US" i="1" dirty="0"/>
              <a:t>Limitation:</a:t>
            </a:r>
            <a:r>
              <a:rPr lang="en-US" dirty="0"/>
              <a:t> Resolution is tied to mesh density (low detail).</a:t>
            </a:r>
          </a:p>
          <a:p>
            <a:r>
              <a:rPr lang="en-US" b="1" dirty="0"/>
              <a:t>UV Mapping:</a:t>
            </a:r>
            <a:r>
              <a:rPr lang="en-US" dirty="0"/>
              <a:t> Unwrapping the 3D mesh onto a 2D plane. Decouples resolution from geometry.</a:t>
            </a:r>
          </a:p>
          <a:p>
            <a:r>
              <a:rPr lang="en-US" i="1" dirty="0"/>
              <a:t>Visual:</a:t>
            </a:r>
            <a:r>
              <a:rPr lang="en-US" dirty="0"/>
              <a:t> * </a:t>
            </a:r>
            <a:r>
              <a:rPr lang="en-US" b="1" dirty="0"/>
              <a:t>Implicit/Neural Representations:</a:t>
            </a:r>
            <a:endParaRPr lang="en-US" dirty="0"/>
          </a:p>
          <a:p>
            <a:r>
              <a:rPr lang="en-US" b="1" dirty="0" err="1"/>
              <a:t>NeRF</a:t>
            </a:r>
            <a:r>
              <a:rPr lang="en-US" b="1" dirty="0"/>
              <a:t>/Gaussian Splatting:</a:t>
            </a:r>
            <a:r>
              <a:rPr lang="en-US" dirty="0"/>
              <a:t> Texture is encoded in neural weights or point clouds. Offers infinite resolution but is harder to edit or animate in traditional pipelines.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B825513-BBBD-5900-76B0-F555D12AE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9804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5C1773B-F72B-F8BD-FDCE-B5A43DC23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DAD53F5-BBF1-DA6A-D6F1-AE522A6FB4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914DDC9-BCA7-8AE9-839B-66AA4AA515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65742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4E6772D-F715-3308-C138-38D3489B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B702558-6CA6-3DE0-F125-84F0E1156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A8998A5-B2F5-82E5-446E-AA22373DD9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6145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6672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066800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8416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57128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9A2F8D4-3F9D-D503-2732-BC3E9DB6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FB37AC1-256F-1F8A-9906-4C8EE1D90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B825513-BBBD-5900-76B0-F555D12AE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06357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9A2F8D4-3F9D-D503-2732-BC3E9DB6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FB37AC1-256F-1F8A-9906-4C8EE1D90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B825513-BBBD-5900-76B0-F555D12AE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939787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9A2F8D4-3F9D-D503-2732-BC3E9DB6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FB37AC1-256F-1F8A-9906-4C8EE1D90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B825513-BBBD-5900-76B0-F555D12AE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32219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1DAA7CF-641A-40FB-BE8A-5CC3E1104C99}" type="datetime1">
              <a:rPr lang="en-US" smtClean="0"/>
              <a:t>2/9/26</a:t>
            </a:fld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7DFE73C-5173-4E91-85AB-EBB37CE6E3D9}" type="datetime1">
              <a:rPr lang="en-US" smtClean="0"/>
              <a:t>2/9/26</a:t>
            </a:fld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BFF0AF7-588E-42DB-A377-988F76EF92F0}" type="datetime1">
              <a:rPr lang="en-US" smtClean="0"/>
              <a:t>2/9/26</a:t>
            </a:fld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2585043-1939-42E8-A23F-D4129FA40B50}" type="datetime1">
              <a:rPr lang="en-US" smtClean="0"/>
              <a:t>2/9/26</a:t>
            </a:fld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F82A263-2B53-4875-8955-B3C91E42BEB3}" type="datetime1">
              <a:rPr lang="en-US" smtClean="0"/>
              <a:t>2/9/26</a:t>
            </a:fld>
            <a:endParaRPr/>
          </a:p>
        </p:txBody>
      </p:sp>
      <p:sp>
        <p:nvSpPr>
          <p:cNvPr id="50" name="Google Shape;5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5" name="Google Shape;55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8E431B0-9B44-4FA4-BBEA-0F8604B1DBD0}" type="datetime1">
              <a:rPr lang="en-US" smtClean="0"/>
              <a:t>2/9/26</a:t>
            </a:fld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26FBDAC-1DC4-4672-BFDF-1E89C34765B4}" type="datetime1">
              <a:rPr lang="en-US" smtClean="0"/>
              <a:t>2/9/26</a:t>
            </a:fld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5A43B13-89BD-425B-8C58-059E9255204B}" type="datetime1">
              <a:rPr lang="en-US" smtClean="0"/>
              <a:t>2/9/26</a:t>
            </a:fld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C554A91-5B05-48DC-9A1C-F3826B104976}" type="datetime1">
              <a:rPr lang="en-US" smtClean="0"/>
              <a:t>2/9/26</a:t>
            </a:fld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E9C79BD9-93A4-43AC-9A8F-668E17D4A15E}" type="datetime1">
              <a:rPr lang="en-US" smtClean="0"/>
              <a:t>2/9/26</a:t>
            </a:fld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/>
          <p:nvPr/>
        </p:nvSpPr>
        <p:spPr>
          <a:xfrm>
            <a:off x="0" y="1210492"/>
            <a:ext cx="1219200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88387" y="2551857"/>
            <a:ext cx="10415225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b="1" dirty="0">
                <a:solidFill>
                  <a:srgbClr val="548135"/>
                </a:solidFill>
              </a:rPr>
              <a:t>An Emotion-Aware Systems for Automated Student Engagement Assessment in Digital Learning Environments</a:t>
            </a:r>
            <a:endParaRPr sz="3600" b="1" dirty="0">
              <a:solidFill>
                <a:srgbClr val="548135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1B70CD-1F71-44F3-956B-BF1397E9C8BE}" type="datetime1">
              <a:rPr lang="en-US" smtClean="0"/>
              <a:t>2/9/26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>
          <a:xfrm>
            <a:off x="7912100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68E4D3-574B-09EA-1B85-2721C68D8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74" y="32759"/>
            <a:ext cx="3705742" cy="1028844"/>
          </a:xfrm>
          <a:prstGeom prst="rect">
            <a:avLst/>
          </a:prstGeom>
        </p:spPr>
      </p:pic>
      <p:pic>
        <p:nvPicPr>
          <p:cNvPr id="1026" name="Picture 2" descr="ĐẠI HỌC QUỐC GIA HÀ NỘI - TRANG CHỦ">
            <a:extLst>
              <a:ext uri="{FF2B5EF4-FFF2-40B4-BE49-F238E27FC236}">
                <a16:creationId xmlns:a16="http://schemas.microsoft.com/office/drawing/2014/main" id="{99C2C97A-0000-4046-B489-5894FBCBD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954" y="4466"/>
            <a:ext cx="3016046" cy="120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92;p1">
            <a:extLst>
              <a:ext uri="{FF2B5EF4-FFF2-40B4-BE49-F238E27FC236}">
                <a16:creationId xmlns:a16="http://schemas.microsoft.com/office/drawing/2014/main" id="{2EFF172E-09AA-309E-88C4-008AD7E2400C}"/>
              </a:ext>
            </a:extLst>
          </p:cNvPr>
          <p:cNvSpPr txBox="1"/>
          <p:nvPr/>
        </p:nvSpPr>
        <p:spPr>
          <a:xfrm>
            <a:off x="2097176" y="4993245"/>
            <a:ext cx="392854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>
                <a:tab pos="2509838" algn="l"/>
              </a:tabLst>
            </a:pPr>
            <a:r>
              <a:rPr lang="en-US" sz="20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Student: </a:t>
            </a:r>
            <a:endParaRPr lang="en-US" sz="2000" b="1">
              <a:solidFill>
                <a:srgbClr val="0C0C0C"/>
              </a:solidFill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>
                <a:tab pos="2509838" algn="l"/>
              </a:tabLst>
            </a:pPr>
            <a:r>
              <a:rPr lang="en-US" sz="20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Major: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>
                <a:tab pos="2509838" algn="l"/>
              </a:tabLst>
            </a:pPr>
            <a:r>
              <a:rPr lang="en-US" sz="2000" b="1">
                <a:solidFill>
                  <a:srgbClr val="0C0C0C"/>
                </a:solidFill>
              </a:rPr>
              <a:t>Supervisors: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>
                <a:tab pos="2509838" algn="l"/>
              </a:tabLst>
            </a:pPr>
            <a:r>
              <a:rPr lang="en-US" sz="2000" b="1">
                <a:solidFill>
                  <a:srgbClr val="0C0C0C"/>
                </a:solidFill>
              </a:rPr>
              <a:t> </a:t>
            </a:r>
            <a:endParaRPr lang="en-US" sz="2000" b="1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2;p1">
            <a:extLst>
              <a:ext uri="{FF2B5EF4-FFF2-40B4-BE49-F238E27FC236}">
                <a16:creationId xmlns:a16="http://schemas.microsoft.com/office/drawing/2014/main" id="{60A0DB79-4C89-5443-CCC7-0DCB4A59F813}"/>
              </a:ext>
            </a:extLst>
          </p:cNvPr>
          <p:cNvSpPr txBox="1"/>
          <p:nvPr/>
        </p:nvSpPr>
        <p:spPr>
          <a:xfrm>
            <a:off x="4061446" y="4951270"/>
            <a:ext cx="7152654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>
                <a:tab pos="2509838" algn="l"/>
              </a:tabLst>
            </a:pPr>
            <a:r>
              <a:rPr lang="en-US" sz="2000" b="1" dirty="0">
                <a:solidFill>
                  <a:srgbClr val="0C0C0C"/>
                </a:solidFill>
              </a:rPr>
              <a:t>Hoang Quoc Viet, Nguyen Tien </a:t>
            </a:r>
            <a:r>
              <a:rPr lang="en-US" sz="2000" b="1" dirty="0" err="1">
                <a:solidFill>
                  <a:srgbClr val="0C0C0C"/>
                </a:solidFill>
              </a:rPr>
              <a:t>Phuc</a:t>
            </a:r>
            <a:r>
              <a:rPr lang="en-US" sz="2000" b="1" dirty="0">
                <a:solidFill>
                  <a:srgbClr val="0C0C0C"/>
                </a:solidFill>
              </a:rPr>
              <a:t>, Nguyen Ngoc Hung</a:t>
            </a:r>
            <a:endParaRPr lang="en-US" sz="2000" b="1" i="0" u="none" strike="noStrike" cap="none" dirty="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800"/>
              <a:tabLst>
                <a:tab pos="2509838" algn="l"/>
              </a:tabLst>
            </a:pPr>
            <a:r>
              <a:rPr lang="en-US" sz="2000" b="1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Computer Science</a:t>
            </a:r>
          </a:p>
          <a:p>
            <a:pPr>
              <a:buSzPts val="1800"/>
              <a:tabLst>
                <a:tab pos="2509838" algn="l"/>
              </a:tabLst>
            </a:pPr>
            <a:r>
              <a:rPr lang="en-US" sz="2000" b="1" dirty="0">
                <a:solidFill>
                  <a:srgbClr val="0C0C0C"/>
                </a:solidFill>
              </a:rPr>
              <a:t>PhD. Ma </a:t>
            </a:r>
            <a:r>
              <a:rPr lang="en-US" sz="2000" b="1" dirty="0" err="1">
                <a:solidFill>
                  <a:srgbClr val="0C0C0C"/>
                </a:solidFill>
              </a:rPr>
              <a:t>Thi</a:t>
            </a:r>
            <a:r>
              <a:rPr lang="en-US" sz="2000" b="1" dirty="0">
                <a:solidFill>
                  <a:srgbClr val="0C0C0C"/>
                </a:solidFill>
              </a:rPr>
              <a:t> Chau</a:t>
            </a:r>
          </a:p>
        </p:txBody>
      </p:sp>
    </p:spTree>
    <p:extLst>
      <p:ext uri="{BB962C8B-B14F-4D97-AF65-F5344CB8AC3E}">
        <p14:creationId xmlns:p14="http://schemas.microsoft.com/office/powerpoint/2010/main" val="3768539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1880273" cy="4351338"/>
          </a:xfrm>
        </p:spPr>
        <p:txBody>
          <a:bodyPr/>
          <a:lstStyle/>
          <a:p>
            <a:r>
              <a:rPr lang="en-US" dirty="0"/>
              <a:t>Motivation &amp; Problem Statements</a:t>
            </a:r>
          </a:p>
          <a:p>
            <a:r>
              <a:rPr lang="en-US" dirty="0"/>
              <a:t>Background Concepts</a:t>
            </a:r>
          </a:p>
          <a:p>
            <a:r>
              <a:rPr lang="en-US" dirty="0"/>
              <a:t>Discussion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14DE16-A98F-4C7B-AD48-765F24D29AF1}" type="datetime1">
              <a:rPr lang="en-US" smtClean="0"/>
              <a:t>2/9/26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6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1AE30AC-2B0B-226C-B37A-32E2FB020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5122818-127E-0BA0-6807-4364D9B18C6C}"/>
              </a:ext>
            </a:extLst>
          </p:cNvPr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1F6E7445-C52E-6926-D224-6F0782B01922}"/>
              </a:ext>
            </a:extLst>
          </p:cNvPr>
          <p:cNvSpPr txBox="1"/>
          <p:nvPr/>
        </p:nvSpPr>
        <p:spPr>
          <a:xfrm>
            <a:off x="228600" y="378067"/>
            <a:ext cx="607230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sz="3200" b="1" i="0" u="none" strike="noStrike" cap="none" dirty="0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 descr="Brief history of Text Summarization | by Prasasthy K B | Medium">
            <a:extLst>
              <a:ext uri="{FF2B5EF4-FFF2-40B4-BE49-F238E27FC236}">
                <a16:creationId xmlns:a16="http://schemas.microsoft.com/office/drawing/2014/main" id="{83384187-4B10-246B-0491-4B1B843BAF13}"/>
              </a:ext>
            </a:extLst>
          </p:cNvPr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23A2C541-F6C7-529E-0B43-B7C03296ED37}"/>
              </a:ext>
            </a:extLst>
          </p:cNvPr>
          <p:cNvGrpSpPr/>
          <p:nvPr/>
        </p:nvGrpSpPr>
        <p:grpSpPr>
          <a:xfrm>
            <a:off x="10310063" y="203261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F1B09B82-1D8D-93FC-E3F6-3BFF915CF98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3585E2FD-9757-A05F-B39D-7ACEAB3A1BF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2F217C-C7FB-87D7-AE2F-6EE8292CC2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2773E7-AB2A-401B-A20A-932DEB9803D8}" type="datetime1">
              <a:rPr lang="en-US" smtClean="0"/>
              <a:t>2/9/26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1AFAA2-4209-AE4D-3865-8DA75516EF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9" name="Google Shape;115;p3">
            <a:extLst>
              <a:ext uri="{FF2B5EF4-FFF2-40B4-BE49-F238E27FC236}">
                <a16:creationId xmlns:a16="http://schemas.microsoft.com/office/drawing/2014/main" id="{FC5074E3-EB81-F821-BA25-422484B3DA93}"/>
              </a:ext>
            </a:extLst>
          </p:cNvPr>
          <p:cNvSpPr txBox="1"/>
          <p:nvPr/>
        </p:nvSpPr>
        <p:spPr>
          <a:xfrm>
            <a:off x="192405" y="1148018"/>
            <a:ext cx="11999595" cy="153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</a:pPr>
            <a:r>
              <a:rPr lang="en-US" sz="2400" dirty="0">
                <a:solidFill>
                  <a:schemeClr val="dk1"/>
                </a:solidFill>
              </a:rPr>
              <a:t>Today’s students face increasing pressure from:</a:t>
            </a:r>
          </a:p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Tx/>
              <a:buChar char="-"/>
            </a:pPr>
            <a:r>
              <a:rPr lang="en-US" sz="2400" dirty="0">
                <a:solidFill>
                  <a:schemeClr val="dk1"/>
                </a:solidFill>
              </a:rPr>
              <a:t>Academic workload and examinations</a:t>
            </a:r>
          </a:p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Tx/>
              <a:buChar char="-"/>
            </a:pPr>
            <a:r>
              <a:rPr lang="en-US" sz="2400" dirty="0">
                <a:solidFill>
                  <a:schemeClr val="dk1"/>
                </a:solidFill>
              </a:rPr>
              <a:t>Family and school relationships</a:t>
            </a:r>
          </a:p>
        </p:txBody>
      </p:sp>
      <p:pic>
        <p:nvPicPr>
          <p:cNvPr id="5" name="Picture 2" descr="College students say academic pressure is the most common cause of mental  health problems — and not just at highly selective institutions - MindShift">
            <a:extLst>
              <a:ext uri="{FF2B5EF4-FFF2-40B4-BE49-F238E27FC236}">
                <a16:creationId xmlns:a16="http://schemas.microsoft.com/office/drawing/2014/main" id="{2311BDD8-330A-942A-81CE-969C5B5DF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6" y="3397412"/>
            <a:ext cx="4986095" cy="332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A SERVE AND RETURN : SCHOOL &amp; FAMILY RELATIONSHIPS - Neuroteachers">
            <a:extLst>
              <a:ext uri="{FF2B5EF4-FFF2-40B4-BE49-F238E27FC236}">
                <a16:creationId xmlns:a16="http://schemas.microsoft.com/office/drawing/2014/main" id="{F2C1F554-72B3-37A4-7295-7CA2B490C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109" y="3426418"/>
            <a:ext cx="4662658" cy="3295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158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F542D17-6D18-3075-05A4-1A3B6D3C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9DFA9C0-8D59-CEC8-3556-D766C01ACED3}"/>
              </a:ext>
            </a:extLst>
          </p:cNvPr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90E70D9E-6528-5320-60F3-D1B55F05EF0C}"/>
              </a:ext>
            </a:extLst>
          </p:cNvPr>
          <p:cNvSpPr txBox="1"/>
          <p:nvPr/>
        </p:nvSpPr>
        <p:spPr>
          <a:xfrm>
            <a:off x="228600" y="378067"/>
            <a:ext cx="607230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sz="3200" b="1" i="0" u="none" strike="noStrike" cap="none" dirty="0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 descr="Brief history of Text Summarization | by Prasasthy K B | Medium">
            <a:extLst>
              <a:ext uri="{FF2B5EF4-FFF2-40B4-BE49-F238E27FC236}">
                <a16:creationId xmlns:a16="http://schemas.microsoft.com/office/drawing/2014/main" id="{1B87DDEC-0BDF-995F-C92D-92F41DB08F7F}"/>
              </a:ext>
            </a:extLst>
          </p:cNvPr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AF6C8831-C9B9-E445-7DD3-F5C96E81C21A}"/>
              </a:ext>
            </a:extLst>
          </p:cNvPr>
          <p:cNvGrpSpPr/>
          <p:nvPr/>
        </p:nvGrpSpPr>
        <p:grpSpPr>
          <a:xfrm>
            <a:off x="10310063" y="203261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E5D75819-73BB-AD41-79C0-401AD2FF5BF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ED235F3B-673E-781B-813E-2201D2B977D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ABB08-519A-5889-413F-0C8E57D205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2773E7-AB2A-401B-A20A-932DEB9803D8}" type="datetime1">
              <a:rPr lang="en-US" smtClean="0"/>
              <a:t>2/9/26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B2C6E2-574A-3064-ADE8-8BD7C462E2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9" name="Google Shape;115;p3">
            <a:extLst>
              <a:ext uri="{FF2B5EF4-FFF2-40B4-BE49-F238E27FC236}">
                <a16:creationId xmlns:a16="http://schemas.microsoft.com/office/drawing/2014/main" id="{04B274FC-9B3D-42C9-6ED0-B0A15719E2B1}"/>
              </a:ext>
            </a:extLst>
          </p:cNvPr>
          <p:cNvSpPr txBox="1"/>
          <p:nvPr/>
        </p:nvSpPr>
        <p:spPr>
          <a:xfrm>
            <a:off x="192405" y="1148018"/>
            <a:ext cx="11999595" cy="105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30000"/>
              </a:lnSpc>
              <a:buClr>
                <a:srgbClr val="00B050"/>
              </a:buClr>
              <a:buSzPts val="2400"/>
            </a:pPr>
            <a:r>
              <a:rPr lang="en-US" sz="2400" b="1" dirty="0">
                <a:solidFill>
                  <a:schemeClr val="dk1"/>
                </a:solidFill>
              </a:rPr>
              <a:t>Problem: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/>
              <a:t>Traditional school psychology assessments are effective but time-consuming and difficult to scale to large student populations.</a:t>
            </a:r>
          </a:p>
        </p:txBody>
      </p:sp>
      <p:sp>
        <p:nvSpPr>
          <p:cNvPr id="6" name="Google Shape;115;p3">
            <a:extLst>
              <a:ext uri="{FF2B5EF4-FFF2-40B4-BE49-F238E27FC236}">
                <a16:creationId xmlns:a16="http://schemas.microsoft.com/office/drawing/2014/main" id="{ED127938-4609-189A-603F-58C58D9D3889}"/>
              </a:ext>
            </a:extLst>
          </p:cNvPr>
          <p:cNvSpPr txBox="1"/>
          <p:nvPr/>
        </p:nvSpPr>
        <p:spPr>
          <a:xfrm>
            <a:off x="1329972" y="2312290"/>
            <a:ext cx="10612300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</a:pPr>
            <a:r>
              <a:rPr lang="en-US" sz="2400" dirty="0"/>
              <a:t>Can AI support early and </a:t>
            </a:r>
            <a:r>
              <a:rPr lang="en-US" sz="2400" dirty="0">
                <a:solidFill>
                  <a:schemeClr val="dk1"/>
                </a:solidFill>
              </a:rPr>
              <a:t>systematic psychological screening in schools?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1B6D311-6806-DE29-AC73-537D241DB4A4}"/>
              </a:ext>
            </a:extLst>
          </p:cNvPr>
          <p:cNvSpPr/>
          <p:nvPr/>
        </p:nvSpPr>
        <p:spPr>
          <a:xfrm>
            <a:off x="249728" y="2410468"/>
            <a:ext cx="862263" cy="359923"/>
          </a:xfrm>
          <a:prstGeom prst="right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How to Use AI for Customer Service and Support">
            <a:extLst>
              <a:ext uri="{FF2B5EF4-FFF2-40B4-BE49-F238E27FC236}">
                <a16:creationId xmlns:a16="http://schemas.microsoft.com/office/drawing/2014/main" id="{835F4019-1E01-E0AA-9350-8386F748D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008" y="2919711"/>
            <a:ext cx="6527800" cy="382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440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1AE30AC-2B0B-226C-B37A-32E2FB020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5122818-127E-0BA0-6807-4364D9B18C6C}"/>
              </a:ext>
            </a:extLst>
          </p:cNvPr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1F6E7445-C52E-6926-D224-6F0782B01922}"/>
              </a:ext>
            </a:extLst>
          </p:cNvPr>
          <p:cNvSpPr txBox="1"/>
          <p:nvPr/>
        </p:nvSpPr>
        <p:spPr>
          <a:xfrm>
            <a:off x="228600" y="378067"/>
            <a:ext cx="838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000099"/>
                </a:solidFill>
              </a:rPr>
              <a:t>Why Focus on Primary School Students</a:t>
            </a:r>
            <a:endParaRPr sz="3200" b="1" dirty="0">
              <a:solidFill>
                <a:srgbClr val="000099"/>
              </a:solidFill>
            </a:endParaRPr>
          </a:p>
        </p:txBody>
      </p:sp>
      <p:sp>
        <p:nvSpPr>
          <p:cNvPr id="104" name="Google Shape;104;p2" descr="Brief history of Text Summarization | by Prasasthy K B | Medium">
            <a:extLst>
              <a:ext uri="{FF2B5EF4-FFF2-40B4-BE49-F238E27FC236}">
                <a16:creationId xmlns:a16="http://schemas.microsoft.com/office/drawing/2014/main" id="{83384187-4B10-246B-0491-4B1B843BAF13}"/>
              </a:ext>
            </a:extLst>
          </p:cNvPr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5;p3">
            <a:extLst>
              <a:ext uri="{FF2B5EF4-FFF2-40B4-BE49-F238E27FC236}">
                <a16:creationId xmlns:a16="http://schemas.microsoft.com/office/drawing/2014/main" id="{062C4B8C-95DB-15CF-E3CE-65B0C5325ED5}"/>
              </a:ext>
            </a:extLst>
          </p:cNvPr>
          <p:cNvSpPr txBox="1"/>
          <p:nvPr/>
        </p:nvSpPr>
        <p:spPr>
          <a:xfrm>
            <a:off x="209550" y="921894"/>
            <a:ext cx="11547649" cy="2652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Tx/>
              <a:buChar char="-"/>
            </a:pPr>
            <a:r>
              <a:rPr lang="en-US" sz="2400" b="1" dirty="0">
                <a:solidFill>
                  <a:schemeClr val="dk1"/>
                </a:solidFill>
              </a:rPr>
              <a:t>Primary school</a:t>
            </a:r>
            <a:r>
              <a:rPr lang="en-US" sz="3200" dirty="0"/>
              <a:t> </a:t>
            </a:r>
            <a:r>
              <a:rPr lang="en-US" sz="2400" dirty="0">
                <a:solidFill>
                  <a:schemeClr val="dk1"/>
                </a:solidFill>
              </a:rPr>
              <a:t>is a critical stage for emotional and behavioral development</a:t>
            </a:r>
          </a:p>
          <a:p>
            <a:pPr marL="342900" indent="-342900">
              <a:lnSpc>
                <a:spcPct val="130000"/>
              </a:lnSpc>
              <a:buClr>
                <a:srgbClr val="00B050"/>
              </a:buClr>
              <a:buSzPts val="2400"/>
              <a:buFontTx/>
              <a:buChar char="-"/>
            </a:pPr>
            <a:r>
              <a:rPr lang="en-US" sz="2400" dirty="0">
                <a:solidFill>
                  <a:schemeClr val="dk1"/>
                </a:solidFill>
              </a:rPr>
              <a:t>Early detection has long-term preventive value.</a:t>
            </a:r>
          </a:p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Tx/>
              <a:buChar char="-"/>
            </a:pPr>
            <a:r>
              <a:rPr lang="en-US" sz="2400" dirty="0">
                <a:solidFill>
                  <a:schemeClr val="dk1"/>
                </a:solidFill>
              </a:rPr>
              <a:t>Children have:</a:t>
            </a:r>
          </a:p>
          <a:p>
            <a:pPr lvl="4">
              <a:lnSpc>
                <a:spcPct val="130000"/>
              </a:lnSpc>
              <a:buClr>
                <a:srgbClr val="00B050"/>
              </a:buClr>
              <a:buSzPts val="2400"/>
            </a:pPr>
            <a:r>
              <a:rPr lang="en-US" sz="2400" dirty="0">
                <a:solidFill>
                  <a:schemeClr val="dk1"/>
                </a:solidFill>
              </a:rPr>
              <a:t>	+ Limited self-awareness</a:t>
            </a:r>
          </a:p>
          <a:p>
            <a:pPr lvl="4">
              <a:lnSpc>
                <a:spcPct val="130000"/>
              </a:lnSpc>
              <a:buClr>
                <a:srgbClr val="00B050"/>
              </a:buClr>
              <a:buSzPts val="2400"/>
            </a:pPr>
            <a:r>
              <a:rPr lang="en-US" sz="2400" dirty="0">
                <a:solidFill>
                  <a:schemeClr val="dk1"/>
                </a:solidFill>
              </a:rPr>
              <a:t>	+ Limited ability to verbalize psychological difficulties</a:t>
            </a: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23A2C541-F6C7-529E-0B43-B7C03296ED37}"/>
              </a:ext>
            </a:extLst>
          </p:cNvPr>
          <p:cNvGrpSpPr/>
          <p:nvPr/>
        </p:nvGrpSpPr>
        <p:grpSpPr>
          <a:xfrm>
            <a:off x="10310063" y="203261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F1B09B82-1D8D-93FC-E3F6-3BFF915CF98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3585E2FD-9757-A05F-B39D-7ACEAB3A1BF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2F217C-C7FB-87D7-AE2F-6EE8292CC2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2773E7-AB2A-401B-A20A-932DEB9803D8}" type="datetime1">
              <a:rPr lang="en-US" smtClean="0"/>
              <a:t>2/9/26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1AFAA2-4209-AE4D-3865-8DA75516EF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2" descr="College students say academic pressure is the most common cause of mental  health problems — and not just at highly selective institutions - MindShift">
            <a:extLst>
              <a:ext uri="{FF2B5EF4-FFF2-40B4-BE49-F238E27FC236}">
                <a16:creationId xmlns:a16="http://schemas.microsoft.com/office/drawing/2014/main" id="{32215B07-2172-CECB-9705-40EF9B942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955" y="3642380"/>
            <a:ext cx="4975831" cy="331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4573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917BE04-9CED-1C21-E3AA-6C2D93BB9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8C00BA0-1AF7-C323-07A1-DBFB0960E8BC}"/>
              </a:ext>
            </a:extLst>
          </p:cNvPr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186D4D38-3EDF-9EB8-1ED8-845142DE0A2F}"/>
              </a:ext>
            </a:extLst>
          </p:cNvPr>
          <p:cNvSpPr txBox="1"/>
          <p:nvPr/>
        </p:nvSpPr>
        <p:spPr>
          <a:xfrm>
            <a:off x="228600" y="378067"/>
            <a:ext cx="607230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000099"/>
                </a:solidFill>
              </a:rPr>
              <a:t>Objectives of the Application</a:t>
            </a:r>
            <a:endParaRPr sz="3200" b="1" dirty="0">
              <a:solidFill>
                <a:srgbClr val="000099"/>
              </a:solidFill>
            </a:endParaRPr>
          </a:p>
        </p:txBody>
      </p:sp>
      <p:sp>
        <p:nvSpPr>
          <p:cNvPr id="104" name="Google Shape;104;p2" descr="Brief history of Text Summarization | by Prasasthy K B | Medium">
            <a:extLst>
              <a:ext uri="{FF2B5EF4-FFF2-40B4-BE49-F238E27FC236}">
                <a16:creationId xmlns:a16="http://schemas.microsoft.com/office/drawing/2014/main" id="{DD9E83B3-E757-28F3-CB80-043D568E8C80}"/>
              </a:ext>
            </a:extLst>
          </p:cNvPr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5;p3">
            <a:extLst>
              <a:ext uri="{FF2B5EF4-FFF2-40B4-BE49-F238E27FC236}">
                <a16:creationId xmlns:a16="http://schemas.microsoft.com/office/drawing/2014/main" id="{82777FEE-2964-5688-2DBC-A9981BA95718}"/>
              </a:ext>
            </a:extLst>
          </p:cNvPr>
          <p:cNvSpPr txBox="1"/>
          <p:nvPr/>
        </p:nvSpPr>
        <p:spPr>
          <a:xfrm>
            <a:off x="307975" y="1396431"/>
            <a:ext cx="7286625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</a:pPr>
            <a:r>
              <a:rPr lang="en-US" sz="2000" dirty="0">
                <a:solidFill>
                  <a:schemeClr val="dk1"/>
                </a:solidFill>
              </a:rPr>
              <a:t>-    Provide a systematic tool for student psychological assessment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-    Combine:</a:t>
            </a:r>
          </a:p>
          <a:p>
            <a:pPr marL="457200" lvl="1"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+ Psychological questionnaires</a:t>
            </a:r>
          </a:p>
          <a:p>
            <a:pPr marL="457200" lvl="1"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+ AI-based facial emotion analysis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-    Support teachers in:</a:t>
            </a:r>
          </a:p>
          <a:p>
            <a:pPr marL="457200" lvl="1"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+ Monitoring students’ mental states</a:t>
            </a:r>
          </a:p>
          <a:p>
            <a:pPr marL="457200" lvl="1"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+ Observing learning participation during class activities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Tx/>
              <a:buChar char="-"/>
            </a:pPr>
            <a:endParaRPr lang="en-US" sz="2000" dirty="0">
              <a:solidFill>
                <a:schemeClr val="dk1"/>
              </a:solidFill>
            </a:endParaRP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CA8EB450-6E56-065F-31A6-60ECB07CC33F}"/>
              </a:ext>
            </a:extLst>
          </p:cNvPr>
          <p:cNvGrpSpPr/>
          <p:nvPr/>
        </p:nvGrpSpPr>
        <p:grpSpPr>
          <a:xfrm>
            <a:off x="10310063" y="203261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FFD9DD2C-5329-DAF4-0A12-16BB06B5652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BFF02232-C7EE-B55F-01E1-B52C1D562D0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36EC1A-C8B6-868D-0F08-E4F77D61CC1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2773E7-AB2A-401B-A20A-932DEB9803D8}" type="datetime1">
              <a:rPr lang="en-US" smtClean="0"/>
              <a:t>2/9/26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589D0B-2AC1-FD22-DA6D-DA5142AB37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2" descr="How to Use AI for Customer Service and Support">
            <a:extLst>
              <a:ext uri="{FF2B5EF4-FFF2-40B4-BE49-F238E27FC236}">
                <a16:creationId xmlns:a16="http://schemas.microsoft.com/office/drawing/2014/main" id="{9A11E4A7-F0B0-E16A-81F4-547C9DC176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6" r="10308"/>
          <a:stretch/>
        </p:blipFill>
        <p:spPr bwMode="auto">
          <a:xfrm>
            <a:off x="7300691" y="1396431"/>
            <a:ext cx="5080460" cy="370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785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4F18848-3ACA-64B8-81D2-6E678CD9C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60851F3-B37D-1254-1CF2-7A6CEA603E66}"/>
              </a:ext>
            </a:extLst>
          </p:cNvPr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8E887CAF-FFD0-55CA-821E-CF09132FB71C}"/>
              </a:ext>
            </a:extLst>
          </p:cNvPr>
          <p:cNvSpPr txBox="1"/>
          <p:nvPr/>
        </p:nvSpPr>
        <p:spPr>
          <a:xfrm>
            <a:off x="228600" y="378067"/>
            <a:ext cx="6072308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3200"/>
            </a:pPr>
            <a:r>
              <a:rPr lang="en-US" sz="3200" b="1" dirty="0">
                <a:solidFill>
                  <a:srgbClr val="000099"/>
                </a:solidFill>
              </a:rPr>
              <a:t>Overall Concept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 descr="Brief history of Text Summarization | by Prasasthy K B | Medium">
            <a:extLst>
              <a:ext uri="{FF2B5EF4-FFF2-40B4-BE49-F238E27FC236}">
                <a16:creationId xmlns:a16="http://schemas.microsoft.com/office/drawing/2014/main" id="{208A6F7C-3376-4BCB-601D-3AEDAA6B25CE}"/>
              </a:ext>
            </a:extLst>
          </p:cNvPr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5;p3">
            <a:extLst>
              <a:ext uri="{FF2B5EF4-FFF2-40B4-BE49-F238E27FC236}">
                <a16:creationId xmlns:a16="http://schemas.microsoft.com/office/drawing/2014/main" id="{A8C46036-B566-B2BC-55E4-7472B2B9E14D}"/>
              </a:ext>
            </a:extLst>
          </p:cNvPr>
          <p:cNvSpPr txBox="1"/>
          <p:nvPr/>
        </p:nvSpPr>
        <p:spPr>
          <a:xfrm>
            <a:off x="387052" y="1407670"/>
            <a:ext cx="5708948" cy="350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The application consists of two complementary components: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dk1"/>
                </a:solidFill>
              </a:rPr>
              <a:t> Psychological Questions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dk1"/>
                </a:solidFill>
              </a:rPr>
              <a:t> School-related (Learning) Questions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=&gt; Together, they assess both psychological state and learning behavior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Tx/>
              <a:buChar char="-"/>
            </a:pPr>
            <a:endParaRPr lang="en-US" sz="2800" dirty="0">
              <a:solidFill>
                <a:schemeClr val="dk1"/>
              </a:solidFill>
            </a:endParaRP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8FCB0ACD-87B4-FFE8-EAEB-788981D457AE}"/>
              </a:ext>
            </a:extLst>
          </p:cNvPr>
          <p:cNvGrpSpPr/>
          <p:nvPr/>
        </p:nvGrpSpPr>
        <p:grpSpPr>
          <a:xfrm>
            <a:off x="10310063" y="203261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9B427F33-9653-564F-E3CA-63BF0A3B250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E4D38888-6D25-114A-515F-8A4B4676697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AB7DF2-C59D-BD4A-3DDF-09CCE8609E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2773E7-AB2A-401B-A20A-932DEB9803D8}" type="datetime1">
              <a:rPr lang="en-US" smtClean="0"/>
              <a:t>2/9/26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08D262-B883-DD9E-B942-E19BE2F803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5122" name="Picture 2" descr="Quiz Blue Stock Illustrations – 7,775 Quiz Blue Stock Illustrations,  Vectors &amp; Clipart - Dreamstime">
            <a:extLst>
              <a:ext uri="{FF2B5EF4-FFF2-40B4-BE49-F238E27FC236}">
                <a16:creationId xmlns:a16="http://schemas.microsoft.com/office/drawing/2014/main" id="{8FF9303B-D286-23F2-C738-7A9E1F6F7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954" y="1455244"/>
            <a:ext cx="5708948" cy="3282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24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1AE30AC-2B0B-226C-B37A-32E2FB020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5122818-127E-0BA0-6807-4364D9B18C6C}"/>
              </a:ext>
            </a:extLst>
          </p:cNvPr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1F6E7445-C52E-6926-D224-6F0782B01922}"/>
              </a:ext>
            </a:extLst>
          </p:cNvPr>
          <p:cNvSpPr txBox="1"/>
          <p:nvPr/>
        </p:nvSpPr>
        <p:spPr>
          <a:xfrm>
            <a:off x="228600" y="378067"/>
            <a:ext cx="1042831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000099"/>
                </a:solidFill>
              </a:rPr>
              <a:t>Psychological Questions</a:t>
            </a:r>
            <a:endParaRPr sz="3200" b="1" dirty="0">
              <a:solidFill>
                <a:srgbClr val="000099"/>
              </a:solidFill>
            </a:endParaRPr>
          </a:p>
        </p:txBody>
      </p:sp>
      <p:sp>
        <p:nvSpPr>
          <p:cNvPr id="104" name="Google Shape;104;p2" descr="Brief history of Text Summarization | by Prasasthy K B | Medium">
            <a:extLst>
              <a:ext uri="{FF2B5EF4-FFF2-40B4-BE49-F238E27FC236}">
                <a16:creationId xmlns:a16="http://schemas.microsoft.com/office/drawing/2014/main" id="{83384187-4B10-246B-0491-4B1B843BAF13}"/>
              </a:ext>
            </a:extLst>
          </p:cNvPr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23A2C541-F6C7-529E-0B43-B7C03296ED37}"/>
              </a:ext>
            </a:extLst>
          </p:cNvPr>
          <p:cNvGrpSpPr/>
          <p:nvPr/>
        </p:nvGrpSpPr>
        <p:grpSpPr>
          <a:xfrm>
            <a:off x="10310063" y="203261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F1B09B82-1D8D-93FC-E3F6-3BFF915CF98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3585E2FD-9757-A05F-B39D-7ACEAB3A1BF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2F217C-C7FB-87D7-AE2F-6EE8292CC2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2773E7-AB2A-401B-A20A-932DEB9803D8}" type="datetime1">
              <a:rPr lang="en-US" smtClean="0"/>
              <a:t>2/9/26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1AFAA2-4209-AE4D-3865-8DA75516EF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079EA-5324-B059-C504-05FB8B6397B9}"/>
              </a:ext>
            </a:extLst>
          </p:cNvPr>
          <p:cNvSpPr txBox="1"/>
          <p:nvPr/>
        </p:nvSpPr>
        <p:spPr>
          <a:xfrm>
            <a:off x="228600" y="1347123"/>
            <a:ext cx="6096000" cy="419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Based on the NIMHANS Sentence Completion Test: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dk1"/>
                </a:solidFill>
              </a:rPr>
              <a:t>A semi-projective psychological test for children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dk1"/>
                </a:solidFill>
              </a:rPr>
              <a:t>Developed in India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b="1" dirty="0">
                <a:solidFill>
                  <a:schemeClr val="dk1"/>
                </a:solidFill>
              </a:rPr>
              <a:t>Current version:</a:t>
            </a:r>
            <a:r>
              <a:rPr lang="en-US" sz="2000" dirty="0">
                <a:solidFill>
                  <a:schemeClr val="dk1"/>
                </a:solidFill>
              </a:rPr>
              <a:t> Uses the original NSCT (75 incomplete sentences)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b="1" dirty="0">
                <a:solidFill>
                  <a:schemeClr val="dk1"/>
                </a:solidFill>
              </a:rPr>
              <a:t>Future plan: </a:t>
            </a:r>
            <a:r>
              <a:rPr lang="en-US" sz="2000" dirty="0">
                <a:solidFill>
                  <a:schemeClr val="dk1"/>
                </a:solidFill>
              </a:rPr>
              <a:t>Develop a shortened, localized version for Vietnamese students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dk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C911AF-B975-66CB-636B-BC76410138A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5099"/>
          <a:stretch/>
        </p:blipFill>
        <p:spPr>
          <a:xfrm>
            <a:off x="6440797" y="1875699"/>
            <a:ext cx="5990166" cy="310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41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FD8F258C-38A2-C80B-C38D-D38420D4E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E86545D-E5B4-62B5-3BB0-2AEB222A3078}"/>
              </a:ext>
            </a:extLst>
          </p:cNvPr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732C4AF6-72B6-F588-4728-8D97DAD257F1}"/>
              </a:ext>
            </a:extLst>
          </p:cNvPr>
          <p:cNvSpPr txBox="1"/>
          <p:nvPr/>
        </p:nvSpPr>
        <p:spPr>
          <a:xfrm>
            <a:off x="228600" y="378067"/>
            <a:ext cx="1042831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000099"/>
                </a:solidFill>
              </a:rPr>
              <a:t>Psychological Test Implementation</a:t>
            </a:r>
            <a:endParaRPr sz="3200" b="1" dirty="0">
              <a:solidFill>
                <a:srgbClr val="000099"/>
              </a:solidFill>
            </a:endParaRPr>
          </a:p>
        </p:txBody>
      </p:sp>
      <p:sp>
        <p:nvSpPr>
          <p:cNvPr id="104" name="Google Shape;104;p2" descr="Brief history of Text Summarization | by Prasasthy K B | Medium">
            <a:extLst>
              <a:ext uri="{FF2B5EF4-FFF2-40B4-BE49-F238E27FC236}">
                <a16:creationId xmlns:a16="http://schemas.microsoft.com/office/drawing/2014/main" id="{13A3642B-3B1C-1FF7-0A20-A8F04D4F173D}"/>
              </a:ext>
            </a:extLst>
          </p:cNvPr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7BFB9E0C-B6D3-0B46-CBA8-84DDC800C193}"/>
              </a:ext>
            </a:extLst>
          </p:cNvPr>
          <p:cNvGrpSpPr/>
          <p:nvPr/>
        </p:nvGrpSpPr>
        <p:grpSpPr>
          <a:xfrm>
            <a:off x="10310063" y="203261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BA651DAF-0918-8F1F-F8F4-C70FB9A6025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52A3F316-B451-A7F6-30B1-5BFD35178EF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3F88E4-13A9-9914-6152-06C408B383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2773E7-AB2A-401B-A20A-932DEB9803D8}" type="datetime1">
              <a:rPr lang="en-US" smtClean="0"/>
              <a:t>2/9/26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32A96A-D650-A463-C322-43DE0E8E9B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5A1DA6A7-D476-2290-0645-6785F431F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7D9571-12DE-9D72-4A4F-458A3146DA2A}"/>
              </a:ext>
            </a:extLst>
          </p:cNvPr>
          <p:cNvSpPr txBox="1"/>
          <p:nvPr/>
        </p:nvSpPr>
        <p:spPr>
          <a:xfrm>
            <a:off x="2895600" y="1599305"/>
            <a:ext cx="6096000" cy="419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Students complete sentences using a keyboard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Each response is scored as: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     0 – Positive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     1 – Neutral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     2 – Negative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No absolute cutoff score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Purpose: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Screening and trend monitoring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Not a replacement for clinical diagnosis</a:t>
            </a:r>
          </a:p>
        </p:txBody>
      </p:sp>
    </p:spTree>
    <p:extLst>
      <p:ext uri="{BB962C8B-B14F-4D97-AF65-F5344CB8AC3E}">
        <p14:creationId xmlns:p14="http://schemas.microsoft.com/office/powerpoint/2010/main" val="2787301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FDF5428-4A46-1273-0CA6-8B25AA130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0DE404F-DEC9-F5C9-A591-AA92421C2762}"/>
              </a:ext>
            </a:extLst>
          </p:cNvPr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901D91D7-F82C-1C66-12F1-E910321C9C9F}"/>
              </a:ext>
            </a:extLst>
          </p:cNvPr>
          <p:cNvSpPr txBox="1"/>
          <p:nvPr/>
        </p:nvSpPr>
        <p:spPr>
          <a:xfrm>
            <a:off x="228600" y="378067"/>
            <a:ext cx="8496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000099"/>
                </a:solidFill>
              </a:rPr>
              <a:t>Facial Emotion Data Collection</a:t>
            </a:r>
            <a:endParaRPr sz="3200" b="1" dirty="0">
              <a:solidFill>
                <a:srgbClr val="000099"/>
              </a:solidFill>
            </a:endParaRPr>
          </a:p>
        </p:txBody>
      </p:sp>
      <p:sp>
        <p:nvSpPr>
          <p:cNvPr id="104" name="Google Shape;104;p2" descr="Brief history of Text Summarization | by Prasasthy K B | Medium">
            <a:extLst>
              <a:ext uri="{FF2B5EF4-FFF2-40B4-BE49-F238E27FC236}">
                <a16:creationId xmlns:a16="http://schemas.microsoft.com/office/drawing/2014/main" id="{7104145C-4D5F-1AFD-CE19-D04C0DAD839C}"/>
              </a:ext>
            </a:extLst>
          </p:cNvPr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A2326FCE-C787-D339-8702-9EA67F00470A}"/>
              </a:ext>
            </a:extLst>
          </p:cNvPr>
          <p:cNvGrpSpPr/>
          <p:nvPr/>
        </p:nvGrpSpPr>
        <p:grpSpPr>
          <a:xfrm>
            <a:off x="10310063" y="203261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51FDB048-3704-6DC3-88E3-4B91D7BCCA4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0E9798FF-7E1A-7E48-F680-B15C1DF1740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6A3FA6-78BA-8FA7-A2B9-65DF3F39A3E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2773E7-AB2A-401B-A20A-932DEB9803D8}" type="datetime1">
              <a:rPr lang="en-US" smtClean="0"/>
              <a:t>2/9/26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CCFB62-8CC6-C3A4-DC47-0627CD04D6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564A0C7C-BED3-53AE-E318-8CE4ED1A58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C1F1E6-A8B0-F5BA-7B7A-43C9AC740B52}"/>
              </a:ext>
            </a:extLst>
          </p:cNvPr>
          <p:cNvSpPr txBox="1"/>
          <p:nvPr/>
        </p:nvSpPr>
        <p:spPr>
          <a:xfrm>
            <a:off x="584200" y="1586476"/>
            <a:ext cx="5664200" cy="326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During test completion: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Webcam records facial expressions for each question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Data is sent to the server via API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AI system classifies 7 basic emotions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Emotions are mapped to the SP12 depression index</a:t>
            </a:r>
          </a:p>
        </p:txBody>
      </p:sp>
      <p:pic>
        <p:nvPicPr>
          <p:cNvPr id="8194" name="Picture 2" descr="Statements analysis of sentiments and emotions - YourCX">
            <a:extLst>
              <a:ext uri="{FF2B5EF4-FFF2-40B4-BE49-F238E27FC236}">
                <a16:creationId xmlns:a16="http://schemas.microsoft.com/office/drawing/2014/main" id="{42C66BBB-FA2B-3768-124C-3BC72E331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525" y="1659106"/>
            <a:ext cx="5764212" cy="384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6393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28600" y="378067"/>
            <a:ext cx="607230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000099"/>
                </a:solidFill>
              </a:rPr>
              <a:t>Emotional Analysis Objective</a:t>
            </a:r>
            <a:endParaRPr sz="3200" b="1" dirty="0">
              <a:solidFill>
                <a:srgbClr val="000099"/>
              </a:solidFill>
            </a:endParaRPr>
          </a:p>
        </p:txBody>
      </p:sp>
      <p:sp>
        <p:nvSpPr>
          <p:cNvPr id="104" name="Google Shape;104;p2" descr="Brief history of Text Summarization | by Prasasthy K B | Medium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D3F0995A-C776-B280-0514-2F71FFBD5667}"/>
              </a:ext>
            </a:extLst>
          </p:cNvPr>
          <p:cNvGrpSpPr/>
          <p:nvPr/>
        </p:nvGrpSpPr>
        <p:grpSpPr>
          <a:xfrm>
            <a:off x="10310063" y="203261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60E00D9F-2179-802E-AED6-8668C2842CD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33905D8C-0793-BD5E-2D27-74F124B5C90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3D9C5FF-1931-E340-22CA-426C6BD6AB71}"/>
              </a:ext>
            </a:extLst>
          </p:cNvPr>
          <p:cNvSpPr txBox="1"/>
          <p:nvPr/>
        </p:nvSpPr>
        <p:spPr>
          <a:xfrm>
            <a:off x="460374" y="1100002"/>
            <a:ext cx="11033126" cy="958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Track emotional changes throughout the test, Student’s psychological state is estimated as: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The average SP12 score over the session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F67FD2F-BC07-A2F3-D9AB-EE591B576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845" y="2504997"/>
            <a:ext cx="8366125" cy="424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215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28599" y="378067"/>
            <a:ext cx="10210801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000099"/>
                </a:solidFill>
              </a:rPr>
              <a:t>Relationship Between Two Measurement Scales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 descr="Brief history of Text Summarization | by Prasasthy K B | Medium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D3F0995A-C776-B280-0514-2F71FFBD5667}"/>
              </a:ext>
            </a:extLst>
          </p:cNvPr>
          <p:cNvGrpSpPr/>
          <p:nvPr/>
        </p:nvGrpSpPr>
        <p:grpSpPr>
          <a:xfrm>
            <a:off x="10310063" y="203261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60E00D9F-2179-802E-AED6-8668C2842CD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33905D8C-0793-BD5E-2D27-74F124B5C90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E5F7807-59F7-0634-520E-33ED8ED4E6E4}"/>
              </a:ext>
            </a:extLst>
          </p:cNvPr>
          <p:cNvSpPr/>
          <p:nvPr/>
        </p:nvSpPr>
        <p:spPr>
          <a:xfrm>
            <a:off x="10503396" y="5179335"/>
            <a:ext cx="526966" cy="8062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18C82A-F27A-1F27-472C-CF9FBA266FD6}"/>
              </a:ext>
            </a:extLst>
          </p:cNvPr>
          <p:cNvSpPr txBox="1"/>
          <p:nvPr/>
        </p:nvSpPr>
        <p:spPr>
          <a:xfrm>
            <a:off x="1634699" y="1617285"/>
            <a:ext cx="6096000" cy="1420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Two Scoring Dimensions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dk1"/>
                </a:solidFill>
              </a:rPr>
              <a:t>Text-based psychological scoring (NSCT content)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dk1"/>
                </a:solidFill>
              </a:rPr>
              <a:t>Emotion-based scoring (facial expression via AI)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E7D873-3808-AA0C-BCB8-D4FE6BE29694}"/>
              </a:ext>
            </a:extLst>
          </p:cNvPr>
          <p:cNvSpPr txBox="1"/>
          <p:nvPr/>
        </p:nvSpPr>
        <p:spPr>
          <a:xfrm>
            <a:off x="1574800" y="3787903"/>
            <a:ext cx="9455562" cy="234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Original NSCT scores written content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Current application emphasizes facial emotion analysis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Key Research Question: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dk1"/>
                </a:solidFill>
              </a:rPr>
              <a:t>Do these two measurement scales support each other?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dk1"/>
                </a:solidFill>
              </a:rPr>
              <a:t>Do negative written responses correspond to negative facial emotions?</a:t>
            </a:r>
          </a:p>
        </p:txBody>
      </p:sp>
    </p:spTree>
    <p:extLst>
      <p:ext uri="{BB962C8B-B14F-4D97-AF65-F5344CB8AC3E}">
        <p14:creationId xmlns:p14="http://schemas.microsoft.com/office/powerpoint/2010/main" val="2714375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28599" y="378067"/>
            <a:ext cx="8996747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000099"/>
                </a:solidFill>
              </a:rPr>
              <a:t>School-related Questions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en-US" sz="3200" b="1" i="0" u="none" strike="noStrike" cap="none" dirty="0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 descr="Brief history of Text Summarization | by Prasasthy K B | Medium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D3F0995A-C776-B280-0514-2F71FFBD5667}"/>
              </a:ext>
            </a:extLst>
          </p:cNvPr>
          <p:cNvGrpSpPr/>
          <p:nvPr/>
        </p:nvGrpSpPr>
        <p:grpSpPr>
          <a:xfrm>
            <a:off x="10310063" y="203261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60E00D9F-2179-802E-AED6-8668C2842CD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33905D8C-0793-BD5E-2D27-74F124B5C90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115;p3">
            <a:extLst>
              <a:ext uri="{FF2B5EF4-FFF2-40B4-BE49-F238E27FC236}">
                <a16:creationId xmlns:a16="http://schemas.microsoft.com/office/drawing/2014/main" id="{48B6EBFB-D2C5-5876-DF01-F8E52E3709D6}"/>
              </a:ext>
            </a:extLst>
          </p:cNvPr>
          <p:cNvSpPr txBox="1"/>
          <p:nvPr/>
        </p:nvSpPr>
        <p:spPr>
          <a:xfrm>
            <a:off x="228598" y="1182251"/>
            <a:ext cx="10739531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Sources: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Life Skills Practice – Grade 4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</a:rPr>
              <a:t>Emotion regulation exercises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</a:rPr>
              <a:t>Fill-in-the-blank and situational questions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Life Skills Practice – Grade 5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</a:rPr>
              <a:t>Multiple-choice situational questions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93BA59E-5B8B-DC18-4350-B4AE64450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243" y="1198354"/>
            <a:ext cx="3917257" cy="5281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001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28599" y="378067"/>
            <a:ext cx="8996747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000099"/>
                </a:solidFill>
              </a:rPr>
              <a:t>AI-based Learning Behavior Analysis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 descr="Brief history of Text Summarization | by Prasasthy K B | Medium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D3F0995A-C776-B280-0514-2F71FFBD5667}"/>
              </a:ext>
            </a:extLst>
          </p:cNvPr>
          <p:cNvGrpSpPr/>
          <p:nvPr/>
        </p:nvGrpSpPr>
        <p:grpSpPr>
          <a:xfrm>
            <a:off x="10310063" y="203261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60E00D9F-2179-802E-AED6-8668C2842CD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33905D8C-0793-BD5E-2D27-74F124B5C90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45D692A-039B-8BCE-54E8-4F9327D36EEA}"/>
              </a:ext>
            </a:extLst>
          </p:cNvPr>
          <p:cNvSpPr txBox="1"/>
          <p:nvPr/>
        </p:nvSpPr>
        <p:spPr>
          <a:xfrm>
            <a:off x="307975" y="1463264"/>
            <a:ext cx="6096000" cy="28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During learning tasks: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Webcam records facial video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Data sent to server via API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Video processing:</a:t>
            </a:r>
          </a:p>
          <a:p>
            <a:pPr marL="800100" lvl="1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One frame extracted every 6 frames</a:t>
            </a:r>
          </a:p>
          <a:p>
            <a:pPr marL="800100" lvl="1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Final label = most frequent prediction</a:t>
            </a:r>
          </a:p>
        </p:txBody>
      </p:sp>
      <p:pic>
        <p:nvPicPr>
          <p:cNvPr id="9220" name="Picture 4" descr="Raspberry Pi Based Emotion Recognition System Using OpenCV, TensorFlow, and  Keras">
            <a:extLst>
              <a:ext uri="{FF2B5EF4-FFF2-40B4-BE49-F238E27FC236}">
                <a16:creationId xmlns:a16="http://schemas.microsoft.com/office/drawing/2014/main" id="{0E98CD53-DD66-FF56-E232-AB6AE7DA2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900" y="1455244"/>
            <a:ext cx="4391260" cy="432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2823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1AE30AC-2B0B-226C-B37A-32E2FB020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5122818-127E-0BA0-6807-4364D9B18C6C}"/>
              </a:ext>
            </a:extLst>
          </p:cNvPr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1F6E7445-C52E-6926-D224-6F0782B01922}"/>
              </a:ext>
            </a:extLst>
          </p:cNvPr>
          <p:cNvSpPr txBox="1"/>
          <p:nvPr/>
        </p:nvSpPr>
        <p:spPr>
          <a:xfrm>
            <a:off x="228600" y="378067"/>
            <a:ext cx="607230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000099"/>
                </a:solidFill>
              </a:rPr>
              <a:t>Engagement Prediction</a:t>
            </a:r>
            <a:endParaRPr sz="3200" b="1" dirty="0">
              <a:solidFill>
                <a:srgbClr val="000099"/>
              </a:solidFill>
            </a:endParaRPr>
          </a:p>
        </p:txBody>
      </p:sp>
      <p:sp>
        <p:nvSpPr>
          <p:cNvPr id="104" name="Google Shape;104;p2" descr="Brief history of Text Summarization | by Prasasthy K B | Medium">
            <a:extLst>
              <a:ext uri="{FF2B5EF4-FFF2-40B4-BE49-F238E27FC236}">
                <a16:creationId xmlns:a16="http://schemas.microsoft.com/office/drawing/2014/main" id="{83384187-4B10-246B-0491-4B1B843BAF13}"/>
              </a:ext>
            </a:extLst>
          </p:cNvPr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23A2C541-F6C7-529E-0B43-B7C03296ED37}"/>
              </a:ext>
            </a:extLst>
          </p:cNvPr>
          <p:cNvGrpSpPr/>
          <p:nvPr/>
        </p:nvGrpSpPr>
        <p:grpSpPr>
          <a:xfrm>
            <a:off x="10310063" y="174844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F1B09B82-1D8D-93FC-E3F6-3BFF915CF98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3585E2FD-9757-A05F-B39D-7ACEAB3A1BF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B6262-1066-FDF7-6A32-F18DDE42FBC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AE6BB39-E78E-496F-8631-B3731EEEE072}" type="datetime1">
              <a:rPr lang="en-US" smtClean="0"/>
              <a:t>2/9/26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45B80C-B04C-301A-BACF-CD718C8ED7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DF9D6A-ADE4-428F-A7EC-37DFE7B20F9C}"/>
              </a:ext>
            </a:extLst>
          </p:cNvPr>
          <p:cNvSpPr txBox="1"/>
          <p:nvPr/>
        </p:nvSpPr>
        <p:spPr>
          <a:xfrm>
            <a:off x="1028700" y="1917574"/>
            <a:ext cx="6096000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Outputs from both models are combined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Student engagement level is predicted based on: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dk1"/>
                </a:solidFill>
              </a:rPr>
              <a:t>Behavioral</a:t>
            </a:r>
            <a:r>
              <a:rPr lang="en-US" sz="2000" b="1" dirty="0">
                <a:solidFill>
                  <a:schemeClr val="dk1"/>
                </a:solidFill>
              </a:rPr>
              <a:t>: eye gaze &amp; posture–based engagement.	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dk1"/>
                </a:solidFill>
              </a:rPr>
              <a:t>Emotional: </a:t>
            </a:r>
            <a:r>
              <a:rPr lang="en-US" sz="2000" b="1" dirty="0">
                <a:solidFill>
                  <a:schemeClr val="dk1"/>
                </a:solidFill>
              </a:rPr>
              <a:t>model CITA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The approach follows: </a:t>
            </a:r>
            <a:r>
              <a:rPr lang="en-US" sz="2000" b="1" dirty="0">
                <a:solidFill>
                  <a:schemeClr val="dk1"/>
                </a:solidFill>
              </a:rPr>
              <a:t>model fusion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6F737DA-2C55-26ED-1A49-494544BCF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280" y="1821665"/>
            <a:ext cx="4999170" cy="3194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593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1AE30AC-2B0B-226C-B37A-32E2FB020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5122818-127E-0BA0-6807-4364D9B18C6C}"/>
              </a:ext>
            </a:extLst>
          </p:cNvPr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1F6E7445-C52E-6926-D224-6F0782B01922}"/>
              </a:ext>
            </a:extLst>
          </p:cNvPr>
          <p:cNvSpPr txBox="1"/>
          <p:nvPr/>
        </p:nvSpPr>
        <p:spPr>
          <a:xfrm>
            <a:off x="228599" y="378067"/>
            <a:ext cx="724796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3200"/>
            </a:pPr>
            <a:r>
              <a:rPr lang="en-US" sz="3200" b="1" dirty="0">
                <a:solidFill>
                  <a:srgbClr val="000099"/>
                </a:solidFill>
              </a:rPr>
              <a:t>Scoring &amp; Reporting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 descr="Brief history of Text Summarization | by Prasasthy K B | Medium">
            <a:extLst>
              <a:ext uri="{FF2B5EF4-FFF2-40B4-BE49-F238E27FC236}">
                <a16:creationId xmlns:a16="http://schemas.microsoft.com/office/drawing/2014/main" id="{83384187-4B10-246B-0491-4B1B843BAF13}"/>
              </a:ext>
            </a:extLst>
          </p:cNvPr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23A2C541-F6C7-529E-0B43-B7C03296ED37}"/>
              </a:ext>
            </a:extLst>
          </p:cNvPr>
          <p:cNvGrpSpPr/>
          <p:nvPr/>
        </p:nvGrpSpPr>
        <p:grpSpPr>
          <a:xfrm>
            <a:off x="10392840" y="160338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F1B09B82-1D8D-93FC-E3F6-3BFF915CF98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3585E2FD-9757-A05F-B39D-7ACEAB3A1BF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C0A59-1709-68C7-0737-294AFCBBB2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0C33CC8-E893-46B6-AD6F-27654CC88AAA}" type="datetime1">
              <a:rPr lang="en-US" smtClean="0"/>
              <a:t>2/9/26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37BA8D-54DB-93B0-ADF1-FD3565834E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5DE0BE-C0F3-C1C9-8EAF-87ACEFF08AB1}"/>
              </a:ext>
            </a:extLst>
          </p:cNvPr>
          <p:cNvSpPr txBox="1"/>
          <p:nvPr/>
        </p:nvSpPr>
        <p:spPr>
          <a:xfrm>
            <a:off x="508000" y="2657146"/>
            <a:ext cx="4978400" cy="958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Complete tasks directly on the system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</a:rPr>
              <a:t>Receive: Scores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CB642E-A740-0F78-FC63-9F3236B1F017}"/>
              </a:ext>
            </a:extLst>
          </p:cNvPr>
          <p:cNvSpPr txBox="1"/>
          <p:nvPr/>
        </p:nvSpPr>
        <p:spPr>
          <a:xfrm>
            <a:off x="6350000" y="2782412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dk1"/>
                </a:solidFill>
              </a:rPr>
              <a:t>Dashboard provides aggregated statistics:</a:t>
            </a:r>
          </a:p>
          <a:p>
            <a:pPr marL="800100" lvl="1" indent="-342900"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Students with low attention</a:t>
            </a:r>
          </a:p>
          <a:p>
            <a:pPr marL="800100" lvl="1" indent="-342900"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Students showing psychological risk indicators</a:t>
            </a:r>
          </a:p>
          <a:p>
            <a:r>
              <a:rPr lang="en-US" sz="2000" dirty="0">
                <a:solidFill>
                  <a:schemeClr val="dk1"/>
                </a:solidFill>
              </a:rPr>
              <a:t>Supports teachers in:</a:t>
            </a:r>
          </a:p>
          <a:p>
            <a:pPr marL="800100" lvl="1" indent="-342900"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Continuous monitoring</a:t>
            </a:r>
          </a:p>
          <a:p>
            <a:pPr marL="800100" lvl="1" indent="-342900"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Early intervention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63539C-A2A2-29E1-10ED-600E97A9263D}"/>
              </a:ext>
            </a:extLst>
          </p:cNvPr>
          <p:cNvSpPr txBox="1"/>
          <p:nvPr/>
        </p:nvSpPr>
        <p:spPr>
          <a:xfrm>
            <a:off x="508000" y="2171700"/>
            <a:ext cx="1140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0099"/>
                </a:solidFill>
              </a:rPr>
              <a:t>Student</a:t>
            </a:r>
            <a:endParaRPr lang="en-V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BDCC3B-8963-2466-B41A-A9D6E111168D}"/>
              </a:ext>
            </a:extLst>
          </p:cNvPr>
          <p:cNvSpPr txBox="1"/>
          <p:nvPr/>
        </p:nvSpPr>
        <p:spPr>
          <a:xfrm>
            <a:off x="6336508" y="2171700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0099"/>
                </a:solidFill>
              </a:rPr>
              <a:t>Teacher</a:t>
            </a:r>
            <a:endParaRPr lang="en-VN" sz="2000" dirty="0"/>
          </a:p>
        </p:txBody>
      </p:sp>
    </p:spTree>
    <p:extLst>
      <p:ext uri="{BB962C8B-B14F-4D97-AF65-F5344CB8AC3E}">
        <p14:creationId xmlns:p14="http://schemas.microsoft.com/office/powerpoint/2010/main" val="2004541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1AE30AC-2B0B-226C-B37A-32E2FB020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5122818-127E-0BA0-6807-4364D9B18C6C}"/>
              </a:ext>
            </a:extLst>
          </p:cNvPr>
          <p:cNvSpPr/>
          <p:nvPr/>
        </p:nvSpPr>
        <p:spPr>
          <a:xfrm>
            <a:off x="228600" y="962842"/>
            <a:ext cx="11753850" cy="69668"/>
          </a:xfrm>
          <a:prstGeom prst="flowChartProcess">
            <a:avLst/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1F6E7445-C52E-6926-D224-6F0782B01922}"/>
              </a:ext>
            </a:extLst>
          </p:cNvPr>
          <p:cNvSpPr txBox="1"/>
          <p:nvPr/>
        </p:nvSpPr>
        <p:spPr>
          <a:xfrm>
            <a:off x="228599" y="378067"/>
            <a:ext cx="763839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</a:p>
        </p:txBody>
      </p:sp>
      <p:sp>
        <p:nvSpPr>
          <p:cNvPr id="104" name="Google Shape;104;p2" descr="Brief history of Text Summarization | by Prasasthy K B | Medium">
            <a:extLst>
              <a:ext uri="{FF2B5EF4-FFF2-40B4-BE49-F238E27FC236}">
                <a16:creationId xmlns:a16="http://schemas.microsoft.com/office/drawing/2014/main" id="{83384187-4B10-246B-0491-4B1B843BAF13}"/>
              </a:ext>
            </a:extLst>
          </p:cNvPr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oogle Shape;112;p3">
            <a:extLst>
              <a:ext uri="{FF2B5EF4-FFF2-40B4-BE49-F238E27FC236}">
                <a16:creationId xmlns:a16="http://schemas.microsoft.com/office/drawing/2014/main" id="{23A2C541-F6C7-529E-0B43-B7C03296ED37}"/>
              </a:ext>
            </a:extLst>
          </p:cNvPr>
          <p:cNvGrpSpPr/>
          <p:nvPr/>
        </p:nvGrpSpPr>
        <p:grpSpPr>
          <a:xfrm>
            <a:off x="10310063" y="203261"/>
            <a:ext cx="1466186" cy="692089"/>
            <a:chOff x="10310063" y="203261"/>
            <a:chExt cx="1466186" cy="692089"/>
          </a:xfrm>
        </p:grpSpPr>
        <p:pic>
          <p:nvPicPr>
            <p:cNvPr id="7" name="Google Shape;113;p3" descr="UET.19.01] Trường Đại học Công nghệ tuyển giảng viên có trình độ tiến sĩ |  ĐẠI HỌC QUỐC GIA HÀ NỘI">
              <a:extLst>
                <a:ext uri="{FF2B5EF4-FFF2-40B4-BE49-F238E27FC236}">
                  <a16:creationId xmlns:a16="http://schemas.microsoft.com/office/drawing/2014/main" id="{F1B09B82-1D8D-93FC-E3F6-3BFF915CF98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063" y="203261"/>
              <a:ext cx="720299" cy="69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14;p3" descr="ĐẠI HỌC QUỐC GIA HÀ NỘI - TRANG CHỦ">
              <a:extLst>
                <a:ext uri="{FF2B5EF4-FFF2-40B4-BE49-F238E27FC236}">
                  <a16:creationId xmlns:a16="http://schemas.microsoft.com/office/drawing/2014/main" id="{3585E2FD-9757-A05F-B39D-7ACEAB3A1BF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84160" y="203261"/>
              <a:ext cx="692089" cy="6920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1935500-8C2B-00A9-1678-2C79B7E9EAD4}"/>
              </a:ext>
            </a:extLst>
          </p:cNvPr>
          <p:cNvSpPr txBox="1"/>
          <p:nvPr/>
        </p:nvSpPr>
        <p:spPr>
          <a:xfrm>
            <a:off x="3048000" y="2229416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dk1"/>
                </a:solidFill>
              </a:rPr>
              <a:t>The application integrates:</a:t>
            </a:r>
          </a:p>
          <a:p>
            <a:pPr marL="800100" lvl="1" indent="-342900"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Psychology</a:t>
            </a:r>
          </a:p>
          <a:p>
            <a:pPr marL="800100" lvl="1" indent="-342900"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Education</a:t>
            </a:r>
          </a:p>
          <a:p>
            <a:pPr marL="800100" lvl="1" indent="-342900"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Artificial Intelligence</a:t>
            </a:r>
          </a:p>
          <a:p>
            <a:r>
              <a:rPr lang="en-US" sz="2000" dirty="0">
                <a:solidFill>
                  <a:schemeClr val="dk1"/>
                </a:solidFill>
              </a:rPr>
              <a:t>Enables:</a:t>
            </a:r>
          </a:p>
          <a:p>
            <a:pPr marL="800100" lvl="1" indent="-342900">
              <a:buFont typeface="System Font Regular"/>
              <a:buChar char="-"/>
            </a:pPr>
            <a:r>
              <a:rPr lang="en-US" sz="2000">
                <a:solidFill>
                  <a:schemeClr val="dk1"/>
                </a:solidFill>
              </a:rPr>
              <a:t>Psychological </a:t>
            </a:r>
            <a:r>
              <a:rPr lang="en-US" sz="2000" dirty="0">
                <a:solidFill>
                  <a:schemeClr val="dk1"/>
                </a:solidFill>
              </a:rPr>
              <a:t>assessment</a:t>
            </a:r>
          </a:p>
          <a:p>
            <a:pPr marL="800100" lvl="1" indent="-342900"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Analysis of emotions and behaviors during learning</a:t>
            </a:r>
          </a:p>
          <a:p>
            <a:r>
              <a:rPr lang="en-US" sz="2000" dirty="0">
                <a:solidFill>
                  <a:schemeClr val="dk1"/>
                </a:solidFill>
              </a:rPr>
              <a:t>Contributes to:</a:t>
            </a:r>
          </a:p>
          <a:p>
            <a:pPr marL="800100" lvl="1" indent="-342900"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School psychology support</a:t>
            </a:r>
          </a:p>
          <a:p>
            <a:pPr marL="800100" lvl="1" indent="-342900">
              <a:buFont typeface="System Font Regular"/>
              <a:buChar char="-"/>
            </a:pPr>
            <a:r>
              <a:rPr lang="en-US" sz="2000" dirty="0">
                <a:solidFill>
                  <a:schemeClr val="dk1"/>
                </a:solidFill>
              </a:rPr>
              <a:t>Social–emotional learning in education</a:t>
            </a:r>
          </a:p>
        </p:txBody>
      </p:sp>
    </p:spTree>
    <p:extLst>
      <p:ext uri="{BB962C8B-B14F-4D97-AF65-F5344CB8AC3E}">
        <p14:creationId xmlns:p14="http://schemas.microsoft.com/office/powerpoint/2010/main" val="1574748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9168" y="2766218"/>
            <a:ext cx="5693664" cy="13255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99"/>
                </a:solidFill>
              </a:rPr>
              <a:t>Thank you for listening!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3B19647-3C09-4149-8468-8976A02E5518}" type="datetime1">
              <a:rPr lang="en-US" smtClean="0"/>
              <a:t>2/9/26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8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9844</TotalTime>
  <Words>682</Words>
  <Application>Microsoft Macintosh PowerPoint</Application>
  <PresentationFormat>Widescreen</PresentationFormat>
  <Paragraphs>149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System Font Regular</vt:lpstr>
      <vt:lpstr>Office Theme</vt:lpstr>
      <vt:lpstr>PowerPoint Presentation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Cao Trung Hiếu</dc:creator>
  <cp:lastModifiedBy>viethoang25xyz@gmail.com</cp:lastModifiedBy>
  <cp:revision>46</cp:revision>
  <dcterms:created xsi:type="dcterms:W3CDTF">2024-03-01T13:39:33Z</dcterms:created>
  <dcterms:modified xsi:type="dcterms:W3CDTF">2026-02-09T07:08:15Z</dcterms:modified>
</cp:coreProperties>
</file>